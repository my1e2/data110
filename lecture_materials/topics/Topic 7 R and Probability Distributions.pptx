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7" r:id="rId13"/>
    <p:sldId id="278" r:id="rId14"/>
    <p:sldId id="275" r:id="rId15"/>
    <p:sldId id="276" r:id="rId16"/>
    <p:sldId id="279" r:id="rId17"/>
    <p:sldId id="280" r:id="rId18"/>
    <p:sldId id="281" r:id="rId19"/>
    <p:sldId id="282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BB821-AD3E-4F76-9A4C-73E5083054FB}" type="datetimeFigureOut">
              <a:rPr lang="en-US" smtClean="0"/>
              <a:t>10/6/24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6D4BF-1BDD-4932-9DD2-46758E8EB1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93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717D02A-009C-471E-AC69-CC293B76A319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5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3FD9-FC2B-4FAE-95FF-98FBF0A2991F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2E46-D636-4616-87FF-2C7354F50F17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42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557-1D72-4308-8E9C-1CA99A6648DF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3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6195-17D5-4EC1-A8E3-6167CD93C602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7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FE6A-575D-4C68-BC50-A6009982B498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0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4262-6B8B-446E-9F21-31758831B740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3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BDA5-E9B7-4C3F-A863-DF90831BFFDE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8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9294-5B4A-46AA-B9C7-A9694365F7F4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8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73D8-E863-4674-9E49-EC72CB2BE6F4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6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5B46-C245-41B5-BB13-7B7A48DD0700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6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2E40-4E13-4E6B-ABCE-1FACDF99C80E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8622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D0FA-875A-4C31-A9FE-F7D7DCE9A6F5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25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49CD-FFB3-46BA-8B63-2798EF3FCA9F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3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EFA-BC06-44E6-9DCA-6A0ABF2A5F79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E109-1C3E-49BD-A8E1-3889E30C0687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83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4B92-F8B2-4C0F-81B0-2D9A91434F83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5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33AE2-95C7-4094-BFFE-CA57244E4EE1}" type="datetime1">
              <a:rPr lang="en-US" smtClean="0"/>
              <a:t>10/6/24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38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6AB2-8755-200A-35B5-2B5AB54A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692724" cy="2387600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5E3E9-F76E-C865-8484-7C34C5574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R and determining probabilities in different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2572B-DE91-F544-B70D-9D8816F1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15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63927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44" y="1550505"/>
            <a:ext cx="9840911" cy="4850296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 Student will be able to do the following Using R: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Probability Distribution*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Cumulative Distributions*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Probabilities*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Percentiles, Upper Percent, and Percentage between for the Normal Distribution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for different distributions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For the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binomial, negative binomial, geometric, hypergeometric, Poisson, Normal and Students t Distributions.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1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55" y="372509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445474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Mass Functions for Binomial Distribution P(X=x)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9" y="2067109"/>
            <a:ext cx="10139082" cy="467162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#Probability Mass Function for Binomial P(X=2)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the number of successes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x_2 &lt;- 2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 (number of trials)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the probability of a success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#name the variable of the that will store the value of the P(X=x) and use function to evaluate it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PMFX_2 &lt;- dbinom (x_2, 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#see the value of PMFX_2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PMFX_2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0.3125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8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55" y="372509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445474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Mass Function Values for Binomial Distribution P(X=x)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9" y="2067110"/>
            <a:ext cx="10139082" cy="41084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How to create table of values for the probability mass function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x_bin &lt;- c(0,1,2,3,4,5)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 (number of trials)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the probability of a success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#name the vector that will contain the probabilities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PMFx_bin &lt;- dbinom(x_bin,n_bin,p_bin)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#see values of PMFx_bin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PMFx_bin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0.7737809375 0.2036265625 0.0214343750 0.0011281250 0.0000296875 0.0000003125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413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55" y="372509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445474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Mass Function Table for Binomial Distribution P(X=x)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13" y="1957432"/>
            <a:ext cx="10139082" cy="41084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How to create table of values for the probability mass function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x_bin &lt;- c(0,1,2,3,4,5)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 (number of trials)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the probability of a success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#name the vector that will contain the probabilities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PMFx_bin &lt;- dbinom(x_bin,n_bin,p_bin)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#create a nice table of these values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data.frame(x_bin,PMFx_bin)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ED3AD-0032-82DF-B73C-25CAC3E85055}"/>
              </a:ext>
            </a:extLst>
          </p:cNvPr>
          <p:cNvSpPr txBox="1"/>
          <p:nvPr/>
        </p:nvSpPr>
        <p:spPr>
          <a:xfrm>
            <a:off x="8540064" y="3007445"/>
            <a:ext cx="2081019" cy="2988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x_bin     PMFx_bin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1     0 0.7737809375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2     1 0.2036265625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3     2 0.0214343750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4     3 0.0011281250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5     4 0.0000296875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6     5 0.0000003125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17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55" y="372509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445474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Cumulative Distribution Function Table for Binomial Distribution P(X≤x)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13" y="1957432"/>
            <a:ext cx="10139082" cy="41084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#Creating the CDF of the binomial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x_bin &lt;- c(0,1,2,3,4,5)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 (number of trials)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the probability of a success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#name the vector that will contain the probabilities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cdfx_bin &lt;- pbinom(x_bin,n_bin,p_bin)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#see value of cdfx_bin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cdfx_bin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0.7737809 0.9774075 0.9988419 0.9999700 0.9999997 1.0000000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75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455" y="372509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445474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Cumulative Distribution Function Table for Binomial Distribution P(X≤x)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13" y="1957432"/>
            <a:ext cx="10139082" cy="41084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#Creating the CDF of the binomial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x_bin &lt;- c(0,1,2,3,4,5)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 (number of trials)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the probability of a success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#name the vector that will contain the probabilities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cdfx_bin &lt;- pbinom(x_bin,n_bin,p_bin)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#create a nice table of these values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data.frame(x_bin,cdfx_bin)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ED3AD-0032-82DF-B73C-25CAC3E85055}"/>
              </a:ext>
            </a:extLst>
          </p:cNvPr>
          <p:cNvSpPr txBox="1"/>
          <p:nvPr/>
        </p:nvSpPr>
        <p:spPr>
          <a:xfrm>
            <a:off x="8540064" y="3007445"/>
            <a:ext cx="2100255" cy="2988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x_bin  cdfx_bin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1           0 0.7737809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2           1 0.9774075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3           2 0.9988419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4           3 0.9999700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5           4 0.9999997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6           5 1.0000000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55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26848"/>
            <a:ext cx="10339423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955143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PMF and CDF of Negative Binomial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13" y="1431235"/>
            <a:ext cx="10139082" cy="51484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#Creating the PMF and CDF of the negative binomial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#f_neg is the number of failures for negative binomial problem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#s_neg is the number of successes for negative binomial problem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#n_neg is the total number of trials f+s, for negative binomial problem, not needed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#p_neg is the probability of a success, for negative binomial problem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#dnbinom(f_neg,s_neg,p_neg) is the probability mass function, P(X=x)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#pnbinom(f_neg,s_neg,p_neg) is the cumulative density function,P(X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≤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f_neg&lt;- 5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s_neg&lt;-2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p_neg&lt;-0.35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dnbinom(f_neg,s_neg,p_neg)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0.08528136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pnbinom(f_neg,s_neg,p_neg)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0.7662014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F9F71CC-685D-9932-DE84-ABB1B8B7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75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26848"/>
            <a:ext cx="10339423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955143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PMF and CDF of Special Case of the Negative Binomial, Geometric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13" y="1431235"/>
            <a:ext cx="10139082" cy="51484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#Creating the PMF and CDF of the geometric random variable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#f_geo is the number of failures for negative binomial problem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#s_geo is 1 since that is the special case for the negative binomial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#p_geo is the probability of a success, for negative binomial problem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#dnbinom(f_geo,s_geo,p_geo) is the probability mass function, P(X=x)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#pnbinom(f_geo,s_geo,p_geo) is the cumulative density function,P(X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≤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f_geo&lt;-3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s_geo&lt;-1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p_geo&lt;-0.35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dnbinom(f_geo,s_geo,p_geo)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0.09611875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pnbinom(f_geo,s_geo,p_geo)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0.8214938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F9F71CC-685D-9932-DE84-ABB1B8B7F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1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PMF and CDF of the Hypergeometric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12" y="1242976"/>
            <a:ext cx="10139082" cy="548817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en-US" sz="18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Hypergeometric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#x_hyper=number of successes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#S_hyper=number of success in the population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#F_hper=number of failures in the population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#n_hyper is your sample size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#pmf P(X=x) is dhyper(x_hyper,S_hyper,F_hyper,n_hyper)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#cdf P(X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≤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x) is phyper(x_hyper,S_hyper,F_hyper,n_hyper)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x_hyper&lt;-2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S_hyper&lt;-12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F_hyper&lt;-8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n_hyper&lt;-5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dhyper(x_hyper,S_hyper,F_hyper,n_hyper)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0.2383901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phyper(x_hyper,S_hyper,F_hyper,n_hyper)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0.2961816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464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PMF and CDF of the Poisson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27" y="1888435"/>
            <a:ext cx="10139082" cy="386027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#x_poisson = number of successes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#mu_poisson = mean of poisson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#pf dpois(x_poisson,mu_poisson)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#cdf ppois(x_poisson,mu_poisson)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x_poisson = 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mu_poisson = 2.3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dpois(x_poisson,mu_poisson)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0.1169022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pois(x_poisson,mu_poisson)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0.9162493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04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CDF of the Normal Distribution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27" y="1888435"/>
            <a:ext cx="10139082" cy="435996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#x_normal = variable value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#mu_normal = mean of normal distribution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#sd_normal = standard deviation of normal distribution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#lower.tail = TRUE if pdf – default of R so you do not need to add it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if you are finding x greater than or x greater then or equal lower.tail=FALSE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fr-F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cdf</a:t>
            </a: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norm(x_normal,mu_normal,sd_normal)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x_normal = 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2.7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0.3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(x_normal,mu_normal,sd_normal)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0.9999927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099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CDF of the Students t Distribution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27" y="1888435"/>
            <a:ext cx="10139082" cy="435996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#x_t = standardized t variable value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#df_t = mean of t distribution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#lower.tail = TRUE if pdf – default of R so you do not need to add it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if you are finding x greater than or x greater then or equal lower.tail=FALSE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</a:t>
            </a:r>
            <a:r>
              <a:rPr lang="fr-F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cdf</a:t>
            </a: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t(x_t,df_t)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x_t = 1.44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df_t = 12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(x_t,df_t)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0.9122786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101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5950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Finding Probabilities using the Binomial as an example: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X~Binomial(8,0.34)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P(X≤3)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P(X&gt;3)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168" y="2293311"/>
            <a:ext cx="10139082" cy="181535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size,n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probability of success, p; and x =3)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&lt;-0.34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pbinom(3,n_bin,p_bin)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0.7275601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F9EDE75-AB9C-B334-EAD3-BEDF0F6F0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91" y="4673552"/>
            <a:ext cx="10139082" cy="19632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size,n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probability of success, p; and x =3)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&lt;-0.34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great_3 = 1 - pbinom(3,n_bin,p_bin)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great_3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0.2724399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27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5950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Finding Probabilities using the Binomial as an example: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X~Binomial(8,0.34)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P(2 ≤ X ≤ 4)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P(X=3)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167" y="2293310"/>
            <a:ext cx="10339423" cy="2198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size,n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probability of success, p; and x =4 and 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&lt;-0.34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between = pbinom(4,n_bin,p_bin)- pbinom(1,n_bin,p_bin)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To see the value of P(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≤ X ≤ 4)</a:t>
            </a: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between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0.7206721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F9EDE75-AB9C-B334-EAD3-BEDF0F6F0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91" y="5095850"/>
            <a:ext cx="10139082" cy="157484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name the variable that will store the value of your sample size,n</a:t>
            </a: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probability of success, p; and x =3)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n_bin &lt;- 8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p_bin &lt;-0.34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binom(3,n_bin,p_bin)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0.2756414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939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5950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Finding Percentiles in the Normal Distribution: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75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 – P(Z&lt;z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0.75, for X~N(12.1,1.24)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upper 5% for X~N(12.1,1.24), that is the 95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percentile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8" y="1748962"/>
            <a:ext cx="10139082" cy="213077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Determining the 75</a:t>
            </a:r>
            <a:r>
              <a:rPr lang="en-US" sz="1800" baseline="30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percentile of this normal distribution, 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X~N(12.1,1.24)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percentile = 0.75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12.1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1.24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(percentile,mu_normal,sd_normal)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12.93637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</a:pPr>
            <a:endParaRPr lang="en-US" sz="18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F9EDE75-AB9C-B334-EAD3-BEDF0F6F0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91" y="4533216"/>
            <a:ext cx="10139082" cy="21307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Determining the upper 5% of this normal distribution, 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X~N(12.1,1.24)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percentile = 0.95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12.1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1.24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(percentile,mu_normal,sd_normal)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14.13962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553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5950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Finding Percentiles in the Normal Distribution: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z values such that 75% is between –z and z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x values such that 90% of probability is between them X~N(12.1,1.24) ercentile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3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998" y="1748962"/>
            <a:ext cx="10139082" cy="213077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Determining the –z and z such that 90% of probability between, just find –z for ½ of 10% </a:t>
            </a:r>
            <a:endParaRPr lang="en-US" sz="1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percentile = 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1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(percentile,mu_normal,sd_normal)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-1.644854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F9EDE75-AB9C-B334-EAD3-BEDF0F6F0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91" y="4533216"/>
            <a:ext cx="10139082" cy="21307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Determining the lower 5% of this normal distribution, 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X~N(12.1,1.24)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percentile = 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12.1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1.24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(percentile,mu_normal,sd_normal)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14.13962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750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5950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Finding Percentiles in the Normal Distribution: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4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x values such that 90% of probability is between them X~N(12.1,1.24), symmetric around mean of distribution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3F9EDE75-AB9C-B334-EAD3-BEDF0F6F0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339" y="2139638"/>
            <a:ext cx="10139082" cy="45915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Determining the lower 5% of this normal distribution, 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X~N(12.1,1.24)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percentile1 = 0.05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12.1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1.24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(percentile1,mu_normal,sd_normal)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10.06038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#Then determine the other x value that is the  95</a:t>
            </a:r>
            <a:r>
              <a:rPr lang="en-US" sz="1800" baseline="300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18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percentile for normal distribution, </a:t>
            </a: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X~N(12.1,1.24)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percentile2 = 0.95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mu_normal = 12.1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sd_normal = 1.24</a:t>
            </a: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qnorm</a:t>
            </a:r>
            <a:r>
              <a:rPr lang="fr-FR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(percentile2,mu_normal,sd_normal)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14.13962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175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126848"/>
            <a:ext cx="10339423" cy="82829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8" y="780331"/>
            <a:ext cx="9840911" cy="5950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for different distributions (there are more arguments you can use, these are the main ones, always look in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 help):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examples: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random numbers: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5E5D5FB-6C95-288C-3468-66CAD664A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23653"/>
              </p:ext>
            </p:extLst>
          </p:nvPr>
        </p:nvGraphicFramePr>
        <p:xfrm>
          <a:off x="1208091" y="1565008"/>
          <a:ext cx="1009971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373">
                  <a:extLst>
                    <a:ext uri="{9D8B030D-6E8A-4147-A177-3AD203B41FA5}">
                      <a16:colId xmlns:a16="http://schemas.microsoft.com/office/drawing/2014/main" val="2102044468"/>
                    </a:ext>
                  </a:extLst>
                </a:gridCol>
                <a:gridCol w="6898341">
                  <a:extLst>
                    <a:ext uri="{9D8B030D-6E8A-4147-A177-3AD203B41FA5}">
                      <a16:colId xmlns:a16="http://schemas.microsoft.com/office/drawing/2014/main" val="2221756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69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Density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dnorm(n, mean=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sd=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lower.tail=TRUE)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61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Cumulative Distribution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pnorm(q, mean=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,sd=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lower.tail=TRUE)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81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Quantiles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qnorm(p, mean =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sd=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lower.tail = TRUE)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Number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rnorm(n, mean 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sd=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69217"/>
                  </a:ext>
                </a:extLst>
              </a:tr>
            </a:tbl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EA81F7A0-D2BD-E29F-6E4B-42A0E0A8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718028"/>
              </p:ext>
            </p:extLst>
          </p:nvPr>
        </p:nvGraphicFramePr>
        <p:xfrm>
          <a:off x="1208091" y="4223469"/>
          <a:ext cx="9775818" cy="2246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697">
                  <a:extLst>
                    <a:ext uri="{9D8B030D-6E8A-4147-A177-3AD203B41FA5}">
                      <a16:colId xmlns:a16="http://schemas.microsoft.com/office/drawing/2014/main" val="3807236473"/>
                    </a:ext>
                  </a:extLst>
                </a:gridCol>
                <a:gridCol w="6358121">
                  <a:extLst>
                    <a:ext uri="{9D8B030D-6E8A-4147-A177-3AD203B41FA5}">
                      <a16:colId xmlns:a16="http://schemas.microsoft.com/office/drawing/2014/main" val="72393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13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Normal (above)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rnorm(n, mean 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sd=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VALUE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092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rchisq(n,df)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820907"/>
                  </a:ext>
                </a:extLst>
              </a:tr>
              <a:tr h="392458">
                <a:tc>
                  <a:txBody>
                    <a:bodyPr/>
                    <a:lstStyle/>
                    <a:p>
                      <a:r>
                        <a:rPr lang="en-US" dirty="0"/>
                        <a:t>Students’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rt(n,df)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8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rf(n,df1,df2)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3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runi(n,min=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VALUE</a:t>
                      </a:r>
                      <a:r>
                        <a:rPr lang="en-US" dirty="0"/>
                        <a:t>,max=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VALUE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463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365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433432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7: R and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1875899"/>
            <a:ext cx="9840911" cy="3860273"/>
          </a:xfrm>
        </p:spPr>
        <p:txBody>
          <a:bodyPr anchor="t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19DE-2202-9FD8-01F7-0F5937CB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2B8D7B-6D91-71F5-3FA5-256DA66A0306}"/>
              </a:ext>
            </a:extLst>
          </p:cNvPr>
          <p:cNvSpPr txBox="1">
            <a:spLocks/>
          </p:cNvSpPr>
          <p:nvPr/>
        </p:nvSpPr>
        <p:spPr>
          <a:xfrm>
            <a:off x="1175544" y="1550505"/>
            <a:ext cx="9840911" cy="48502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Wrap-Up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Probability Distribution*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Cumulative Distributions*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Probabilities*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Percentiles, Upper Percent, and Percentage between for the Normal Distribution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for different distributions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For the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binomial, negative binomial, geometric, hypergeometric, Poisson, Normal and Students t Distributions.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640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654</TotalTime>
  <Words>2691</Words>
  <Application>Microsoft Macintosh PowerPoint</Application>
  <PresentationFormat>Widescreen</PresentationFormat>
  <Paragraphs>333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Tw Cen MT</vt:lpstr>
      <vt:lpstr>Circuit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  <vt:lpstr>Topic 7: R and Probability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1: Programing in R Using the R Studio Interface</dc:title>
  <dc:creator>Susan Claire Mazzullo</dc:creator>
  <cp:lastModifiedBy>Myles Javonni Sartor</cp:lastModifiedBy>
  <cp:revision>27</cp:revision>
  <dcterms:created xsi:type="dcterms:W3CDTF">2022-06-28T14:23:18Z</dcterms:created>
  <dcterms:modified xsi:type="dcterms:W3CDTF">2024-10-07T05:17:27Z</dcterms:modified>
</cp:coreProperties>
</file>